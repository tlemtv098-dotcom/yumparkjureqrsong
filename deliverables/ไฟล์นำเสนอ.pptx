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000" y="2100000"/>
            <a:ext cx="10592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0F172A"/>
                </a:solidFill>
                <a:latin typeface="Leelawadee UI"/>
                <a:cs typeface="Leelawadee UI"/>
                <a:ea typeface="Leelawadee UI"/>
              </a:rPr>
              <a:t>ระบบจูเกะซ์ร้าน KPP (Yum Jukebox)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0000" y="4300000"/>
            <a:ext cx="1059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D97706"/>
                </a:solidFill>
                <a:latin typeface="Leelawadee UI"/>
                <a:cs typeface="Leelawadee UI"/>
                <a:ea typeface="Leelawadee UI"/>
              </a:rPr>
              <a:t>ระบบจูเกะซ์สำหรับร้านกาแฟ — โครงงานภาคเรียน</a:t>
            </a:r>
          </a:p>
          <a:p>
            <a:pPr algn="ctr"/>
            <a:r>
              <a:rPr sz="1500" b="0">
                <a:solidFill>
                  <a:srgbClr val="475569"/>
                </a:solidFill>
                <a:latin typeface="Leelawadee UI"/>
                <a:cs typeface="Leelawadee UI"/>
                <a:ea typeface="Leelawadee UI"/>
              </a:rPr>
              <a:t>https://yumpakjure.onrender.com/&lt;br/&gt;นายสุภวัฒน์ จันไพจิตร | 671320101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50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00" y="420000"/>
            <a:ext cx="1091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F172A"/>
                </a:solidFill>
                <a:latin typeface="Leelawadee UI"/>
                <a:cs typeface="Leelawadee UI"/>
                <a:ea typeface="Leelawadee UI"/>
              </a:rPr>
              <a:t>ปัญหาที่ต้องการแก้ไข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0000" y="1500000"/>
            <a:ext cx="10600000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0">
                <a:solidFill>
                  <a:srgbClr val="1E293B"/>
                </a:solidFill>
                <a:latin typeface="Leelawadee UI"/>
                <a:cs typeface="Leelawadee UI"/>
                <a:ea typeface="Leelawadee UI"/>
              </a:rPr>
              <a:t>•  ลูกค้าต้องเดินมาที่เคาน์เตอร์เพื่อขอเพลง ทำให้คิวช้า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1E293B"/>
                </a:solidFill>
                <a:latin typeface="Leelawadee UI"/>
                <a:cs typeface="Leelawadee UI"/>
                <a:ea typeface="Leelawadee UI"/>
              </a:rPr>
              <a:t>•  เครื่องจูเกะซ์ทั่วไปมีเพลงให้เลือกน้อยและปรับรายการไม่ได้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1E293B"/>
                </a:solidFill>
                <a:latin typeface="Leelawadee UI"/>
                <a:cs typeface="Leelawadee UI"/>
                <a:ea typeface="Leelawadee UI"/>
              </a:rPr>
              <a:t>•  เจ้าของร้านไม่รู้ว่าลูกค้าชอบเพลงอะไร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0000" y="5750000"/>
            <a:ext cx="106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97706"/>
                </a:solidFill>
                <a:latin typeface="Leelawadee UI"/>
                <a:cs typeface="Leelawadee UI"/>
                <a:ea typeface="Leelawadee UI"/>
              </a:rPr>
              <a:t>เป้าหมาย: ให้ลูกค้าขอเพลงได้เองจากโทรศัพท์ และให้เจ้าของร้านเห็นความนิยมเป็นกราฟ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50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00" y="420000"/>
            <a:ext cx="1091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F172A"/>
                </a:solidFill>
                <a:latin typeface="Leelawadee UI"/>
                <a:cs typeface="Leelawadee UI"/>
                <a:ea typeface="Leelawadee UI"/>
              </a:rPr>
              <a:t>บทบาทผู้ใช้และสิทธิ์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0000" y="1500000"/>
            <a:ext cx="10600000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0">
                <a:solidFill>
                  <a:srgbClr val="1E293B"/>
                </a:solidFill>
                <a:latin typeface="Leelawadee UI"/>
                <a:cs typeface="Leelawadee UI"/>
                <a:ea typeface="Leelawadee UI"/>
              </a:rPr>
              <a:t>•  admin — จัดการผู้ใช้ แนวเพลง แท็ก ดูแดชบอร์ด ส่งออกข้อมูล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1E293B"/>
                </a:solidFill>
                <a:latin typeface="Leelawadee UI"/>
                <a:cs typeface="Leelawadee UI"/>
                <a:ea typeface="Leelawadee UI"/>
              </a:rPr>
              <a:t>•  staff — จัดการคิวเพลงและเพลย์ลิสต์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1E293B"/>
                </a:solidFill>
                <a:latin typeface="Leelawadee UI"/>
                <a:cs typeface="Leelawadee UI"/>
                <a:ea typeface="Leelawadee UI"/>
              </a:rPr>
              <a:t>•  customer — ขอเพลง จัดการเพลย์ลิสต์ของตน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1E293B"/>
                </a:solidFill>
                <a:latin typeface="Leelawadee UI"/>
                <a:cs typeface="Leelawadee UI"/>
                <a:ea typeface="Leelawadee UI"/>
              </a:rPr>
              <a:t>•  ควบคุมสิทธิ์ด้วยมัฤติศาสตร์ role_required ที่ฝั่งเซิร์ฟเวอร์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50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00" y="420000"/>
            <a:ext cx="1091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F172A"/>
                </a:solidFill>
                <a:latin typeface="Leelawadee UI"/>
                <a:cs typeface="Leelawadee UI"/>
                <a:ea typeface="Leelawadee UI"/>
              </a:rPr>
              <a:t>สถาปัตยกรรมระบบ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0000" y="1500000"/>
            <a:ext cx="10600000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0">
                <a:solidFill>
                  <a:srgbClr val="1E293B"/>
                </a:solidFill>
                <a:latin typeface="Leelawadee UI"/>
                <a:cs typeface="Leelawadee UI"/>
                <a:ea typeface="Leelawadee UI"/>
              </a:rPr>
              <a:t>•  Django 6.0.6 + Gunicorn 2 workers + WhiteNoise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1E293B"/>
                </a:solidFill>
                <a:latin typeface="Leelawadee UI"/>
                <a:cs typeface="Leelawadee UI"/>
                <a:ea typeface="Leelawadee UI"/>
              </a:rPr>
              <a:t>•  โมเดล -&gt; ฟอร์ม -&gt; วิว -&gt; เทมเพลต (Tailwind CSS)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1E293B"/>
                </a:solidFill>
                <a:latin typeface="Leelawadee UI"/>
                <a:cs typeface="Leelawadee UI"/>
                <a:ea typeface="Leelawadee UI"/>
              </a:rPr>
              <a:t>•  ฐานข้อมูล PostgreSQL (Neon) ในการใช้งานจริง SQLite สำหรับพัฒนาในเครื่อง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1E293B"/>
                </a:solidFill>
                <a:latin typeface="Leelawadee UI"/>
                <a:cs typeface="Leelawadee UI"/>
                <a:ea typeface="Leelawadee UI"/>
              </a:rPr>
              <a:t>•  ส่วนติดต่อกับหน้าเว็บผ่าน REST API 26 เส้นทางใต้ /api/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50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00" y="420000"/>
            <a:ext cx="1091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F172A"/>
                </a:solidFill>
                <a:latin typeface="Leelawadee UI"/>
                <a:cs typeface="Leelawadee UI"/>
                <a:ea typeface="Leelawadee UI"/>
              </a:rPr>
              <a:t>แบบจำลองข้อมูล (ER Diagram)</a:t>
            </a:r>
          </a:p>
        </p:txBody>
      </p:sp>
      <p:pic>
        <p:nvPicPr>
          <p:cNvPr id="4" name="Picture 3" descr="er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1000" y="1350000"/>
            <a:ext cx="6450000" cy="430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50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00" y="420000"/>
            <a:ext cx="1091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F172A"/>
                </a:solidFill>
                <a:latin typeface="Leelawadee UI"/>
                <a:cs typeface="Leelawadee UI"/>
                <a:ea typeface="Leelawadee UI"/>
              </a:rPr>
              <a:t>โมเดลหลัก 9 โมเดล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0000" y="1500000"/>
            <a:ext cx="10600000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0">
                <a:solidFill>
                  <a:srgbClr val="1E293B"/>
                </a:solidFill>
                <a:latin typeface="Leelawadee UI"/>
                <a:cs typeface="Leelawadee UI"/>
                <a:ea typeface="Leelawadee UI"/>
              </a:rPr>
              <a:t>•  One-to-One: Profile.user -&gt; User (สร้างอัตโนมัติด้วยสัญญาณ post_save)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1E293B"/>
                </a:solidFill>
                <a:latin typeface="Leelawadee UI"/>
                <a:cs typeface="Leelawadee UI"/>
                <a:ea typeface="Leelawadee UI"/>
              </a:rPr>
              <a:t>•  One-to-Many: Playlist.user -&gt; User, SongQueue.requested_by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1E293B"/>
                </a:solidFill>
                <a:latin typeface="Leelawadee UI"/>
                <a:cs typeface="Leelawadee UI"/>
                <a:ea typeface="Leelawadee UI"/>
              </a:rPr>
              <a:t>•  Many-to-Many: Playlist/SongQueue -&gt; Genre และ Tag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1E293B"/>
                </a:solidFill>
                <a:latin typeface="Leelawadee UI"/>
                <a:cs typeface="Leelawadee UI"/>
                <a:ea typeface="Leelawadee UI"/>
              </a:rPr>
              <a:t>•  Many-to-Many ผ่านตารางกลาง: Playlist &lt;-&gt; SongQueue ผ่าน PlaylistSong (มีฟิลด์ position)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50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00" y="420000"/>
            <a:ext cx="1091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F172A"/>
                </a:solidFill>
                <a:latin typeface="Leelawadee UI"/>
                <a:cs typeface="Leelawadee UI"/>
                <a:ea typeface="Leelawadee UI"/>
              </a:rPr>
              <a:t>การยืนยันตัวตนและการควบคุมสิทธิ์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0000" y="1500000"/>
            <a:ext cx="10600000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0">
                <a:solidFill>
                  <a:srgbClr val="1E293B"/>
                </a:solidFill>
                <a:latin typeface="Leelawadee UI"/>
                <a:cs typeface="Leelawadee UI"/>
                <a:ea typeface="Leelawadee UI"/>
              </a:rPr>
              <a:t>•  RegisterForm สืบทอด UserCreationForm พร้อมตรวจอีเมลซ้ำและเบอร์โทร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1E293B"/>
                </a:solidFill>
                <a:latin typeface="Leelawadee UI"/>
                <a:cs typeface="Leelawadee UI"/>
                <a:ea typeface="Leelawadee UI"/>
              </a:rPr>
              <a:t>•  สัญญาณ post_save สร้าง Profile บทบาท customer ให้ทุกคนใหม่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1E293B"/>
                </a:solidFill>
                <a:latin typeface="Leelawadee UI"/>
                <a:cs typeface="Leelawadee UI"/>
                <a:ea typeface="Leelawadee UI"/>
              </a:rPr>
              <a:t>•  role_required ตรวจบทบาทซ้ำที่เซิร์ฟเวอร์ ไม่ใช่ซ่อนปุ่มอย่างเดียว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50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00" y="420000"/>
            <a:ext cx="1091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F172A"/>
                </a:solidFill>
                <a:latin typeface="Leelawadee UI"/>
                <a:cs typeface="Leelawadee UI"/>
                <a:ea typeface="Leelawadee UI"/>
              </a:rPr>
              <a:t>CRUD และการจัดการคิวเพลง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0000" y="1500000"/>
            <a:ext cx="10600000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0">
                <a:solidFill>
                  <a:srgbClr val="1E293B"/>
                </a:solidFill>
                <a:latin typeface="Leelawadee UI"/>
                <a:cs typeface="Leelawadee UI"/>
                <a:ea typeface="Leelawadee UI"/>
              </a:rPr>
              <a:t>•  CRUD 5 กลุ่ม: ผู้ใช้ แนวเพลง แท็ก เพลย์ลิสต์ คิวเพลง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1E293B"/>
                </a:solidFill>
                <a:latin typeface="Leelawadee UI"/>
                <a:cs typeface="Leelawadee UI"/>
                <a:ea typeface="Leelawadee UI"/>
              </a:rPr>
              <a:t>•  เพิ่มเพลงต่อคิวหรือต่อหน้า ย้ายลำดับ ทำเครื่องหมายว่าเล่นแล้ว ล้างคิว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1E293B"/>
                </a:solidFill>
                <a:latin typeface="Leelawadee UI"/>
                <a:cs typeface="Leelawadee UI"/>
                <a:ea typeface="Leelawadee UI"/>
              </a:rPr>
              <a:t>•  เพลย์ลิสต์เก็บลำดับเพลงด้วยฟิลด์ position ในตาราง PlaylistSong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50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00" y="420000"/>
            <a:ext cx="1091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F172A"/>
                </a:solidFill>
                <a:latin typeface="Leelawadee UI"/>
                <a:cs typeface="Leelawadee UI"/>
                <a:ea typeface="Leelawadee UI"/>
              </a:rPr>
              <a:t>การค้นหาผ่าน YouTube Data API v3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0000" y="1500000"/>
            <a:ext cx="10600000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0">
                <a:solidFill>
                  <a:srgbClr val="1E293B"/>
                </a:solidFill>
                <a:latin typeface="Leelawadee UI"/>
                <a:cs typeface="Leelawadee UI"/>
                <a:ea typeface="Leelawadee UI"/>
              </a:rPr>
              <a:t>•  ส่ง regionCode=TH และ videoCategoryId=10 เพื่อให้ได้เฉพาะเพลงในไทย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1E293B"/>
                </a:solidFill>
                <a:latin typeface="Leelawadee UI"/>
                <a:cs typeface="Leelawadee UI"/>
                <a:ea typeface="Leelawadee UI"/>
              </a:rPr>
              <a:t>•  videoEmbeddable=true กรองเฉพาะวิดีโอที่ฝังในหน้าเว็บได้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1E293B"/>
                </a:solidFill>
                <a:latin typeface="Leelawadee UI"/>
                <a:cs typeface="Leelawadee UI"/>
                <a:ea typeface="Leelawadee UI"/>
              </a:rPr>
              <a:t>•  รองรับคีย์หลายตัวและสลับคีย์อัตโนมัติเมื่อโควตาหมด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1E293B"/>
                </a:solidFill>
                <a:latin typeface="Leelawadee UI"/>
                <a:cs typeface="Leelawadee UI"/>
                <a:ea typeface="Leelawadee UI"/>
              </a:rPr>
              <a:t>•  กรองซ้ำฝั่งเซิร์ฟเวอร์: วิดีโอที่ถูกบล็อก ชื่อที่ดูเป็น AI และคลิปที่ไม่ใช่เพลง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50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00" y="420000"/>
            <a:ext cx="1091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F172A"/>
                </a:solidFill>
                <a:latin typeface="Leelawadee UI"/>
                <a:cs typeface="Leelawadee UI"/>
                <a:ea typeface="Leelawadee UI"/>
              </a:rPr>
              <a:t>อัปโหลดไฟล์และการแบ่งหน้า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0000" y="1500000"/>
            <a:ext cx="10600000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0">
                <a:solidFill>
                  <a:srgbClr val="1E293B"/>
                </a:solidFill>
                <a:latin typeface="Leelawadee UI"/>
                <a:cs typeface="Leelawadee UI"/>
                <a:ea typeface="Leelawadee UI"/>
              </a:rPr>
              <a:t>•  Profile.avatar และ SongQueue.artwork เป็นภาพที่อัปโหลดได้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1E293B"/>
                </a:solidFill>
                <a:latin typeface="Leelawadee UI"/>
                <a:cs typeface="Leelawadee UI"/>
                <a:ea typeface="Leelawadee UI"/>
              </a:rPr>
              <a:t>•  ตรวจขนาดไม่เกิน 2 MB ชนิดไฟล์ JPEG/PNG/WebP และความกว้างสูงไม่เกิน 1000 พิกเซล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1E293B"/>
                </a:solidFill>
                <a:latin typeface="Leelawadee UI"/>
                <a:cs typeface="Leelawadee UI"/>
                <a:ea typeface="Leelawadee UI"/>
              </a:rPr>
              <a:t>•  Paginator หน้าละ 20 รายการ พร้อมช่องค้นหาและตัวกรองที่ผู้ใช้ แนวเพลง และแท็ก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50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00" y="420000"/>
            <a:ext cx="1091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F172A"/>
                </a:solidFill>
                <a:latin typeface="Leelawadee UI"/>
                <a:cs typeface="Leelawadee UI"/>
                <a:ea typeface="Leelawadee UI"/>
              </a:rPr>
              <a:t>REST API 26 เส้นทาง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0000" y="1500000"/>
            <a:ext cx="10600000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0">
                <a:solidFill>
                  <a:srgbClr val="1E293B"/>
                </a:solidFill>
                <a:latin typeface="Leelawadee UI"/>
                <a:cs typeface="Leelawadee UI"/>
                <a:ea typeface="Leelawadee UI"/>
              </a:rPr>
              <a:t>•  /api/search/ /api/suggest/ /api/hits/ — ค้นหาและเติมคำแนะนำ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1E293B"/>
                </a:solidFill>
                <a:latin typeface="Leelawadee UI"/>
                <a:cs typeface="Leelawadee UI"/>
                <a:ea typeface="Leelawadee UI"/>
              </a:rPr>
              <a:t>•  /api/add/ /api/add-front/ /api/queue/ /api/queue/move/ — จัดการคิว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1E293B"/>
                </a:solidFill>
                <a:latin typeface="Leelawadee UI"/>
                <a:cs typeface="Leelawadee UI"/>
                <a:ea typeface="Leelawadee UI"/>
              </a:rPr>
              <a:t>•  /api/played/&lt;id&gt;/ /api/clear/ /api/duration/ — สถานะเพลง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1E293B"/>
                </a:solidFill>
                <a:latin typeface="Leelawadee UI"/>
                <a:cs typeface="Leelawadee UI"/>
                <a:ea typeface="Leelawadee UI"/>
              </a:rPr>
              <a:t>•  /api/playlists/ /api/my-songs/ /api/dashboard/stats/ /api/clientlog/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50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00" y="420000"/>
            <a:ext cx="1091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F172A"/>
                </a:solidFill>
                <a:latin typeface="Leelawadee UI"/>
                <a:cs typeface="Leelawadee UI"/>
                <a:ea typeface="Leelawadee UI"/>
              </a:rPr>
              <a:t>แดชบอร์ดและกราฟ</a:t>
            </a:r>
          </a:p>
        </p:txBody>
      </p:sp>
      <p:pic>
        <p:nvPicPr>
          <p:cNvPr id="4" name="Picture 3" descr="05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7371" y="1350000"/>
            <a:ext cx="5177257" cy="430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0000" y="5900000"/>
            <a:ext cx="106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475569"/>
                </a:solidFill>
                <a:latin typeface="Leelawadee UI"/>
                <a:cs typeface="Leelawadee UI"/>
                <a:ea typeface="Leelawadee UI"/>
              </a:rPr>
              <a:t>การ์ดสรุป 4 ใบ และกราฟ 4 กราฟ คำนวณจากฐานข้อมูลฝั่งเซิร์ฟเวอร์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50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00" y="420000"/>
            <a:ext cx="1091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F172A"/>
                </a:solidFill>
                <a:latin typeface="Leelawadee UI"/>
                <a:cs typeface="Leelawadee UI"/>
                <a:ea typeface="Leelawadee UI"/>
              </a:rPr>
              <a:t>ผลการทดสอบ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0000" y="1500000"/>
            <a:ext cx="10600000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0">
                <a:solidFill>
                  <a:srgbClr val="1E293B"/>
                </a:solidFill>
                <a:latin typeface="Leelawadee UI"/>
                <a:cs typeface="Leelawadee UI"/>
                <a:ea typeface="Leelawadee UI"/>
              </a:rPr>
              <a:t>•  ชุดทดสอบอัตโนมัติ 386 เคส แยก 25 โมดูล ผ่านทั้งหมด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1E293B"/>
                </a:solidFill>
                <a:latin typeface="Leelawadee UI"/>
                <a:cs typeface="Leelawadee UI"/>
                <a:ea typeface="Leelawadee UI"/>
              </a:rPr>
              <a:t>•  ครอบคลุมเส้นทางหลัก บัญชีทดสอบ การตั้งค่า production เมนูตามบทบาท XSS สื่อ แดชบอร์ด และสัญญาณ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1E293B"/>
                </a:solidFill>
                <a:latin typeface="Leelawadee UI"/>
                <a:cs typeface="Leelawadee UI"/>
                <a:ea typeface="Leelawadee UI"/>
              </a:rPr>
              <a:t>•  ทดสอบด้วยมืออีก 20 กรณี ตั้งแต่สมัครสมาชิกจนถึงการส่งออกข้อมูล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0000" y="5750000"/>
            <a:ext cx="106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97706"/>
                </a:solidFill>
                <a:latin typeface="Leelawadee UI"/>
                <a:cs typeface="Leelawadee UI"/>
                <a:ea typeface="Leelawadee UI"/>
              </a:rPr>
              <a:t>คำสั่งรัน: python manage.py test  -&gt;  Ran 386 tests ... OK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50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00" y="420000"/>
            <a:ext cx="1091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F172A"/>
                </a:solidFill>
                <a:latin typeface="Leelawadee UI"/>
                <a:cs typeface="Leelawadee UI"/>
                <a:ea typeface="Leelawadee UI"/>
              </a:rPr>
              <a:t>ข้อจำกัดที่ทราบ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0000" y="1500000"/>
            <a:ext cx="10600000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0">
                <a:solidFill>
                  <a:srgbClr val="1E293B"/>
                </a:solidFill>
                <a:latin typeface="Leelawadee UI"/>
                <a:cs typeface="Leelawadee UI"/>
                <a:ea typeface="Leelawadee UI"/>
              </a:rPr>
              <a:t>•  ฐานข้อมูลการใช้งานจริงย้ายไป PostgreSQL (Neon) แล้ว — ข้อมูลคงอยู่ข้ามการ deploy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1E293B"/>
                </a:solidFill>
                <a:latin typeface="Leelawadee UI"/>
                <a:cs typeface="Leelawadee UI"/>
                <a:ea typeface="Leelawadee UI"/>
              </a:rPr>
              <a:t>•  SECRET_KEY ของการใช้งานจริงตั้งเป็นตัวแปรสภาพแวดล้อมแล้ว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1E293B"/>
                </a:solidFill>
                <a:latin typeface="Leelawadee UI"/>
                <a:cs typeface="Leelawadee UI"/>
                <a:ea typeface="Leelawadee UI"/>
              </a:rPr>
              <a:t>•  iOS และ Safari เล่นไม่ได้ในบางเครื่อง (Error 153) มีโหมด ?noapi=1 เป็นทางเลี่ยง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1E293B"/>
                </a:solidFill>
                <a:latin typeface="Leelawadee UI"/>
                <a:cs typeface="Leelawadee UI"/>
                <a:ea typeface="Leelawadee UI"/>
              </a:rPr>
              <a:t>•  ไฟล์ที่อัปโหลดบน Render ไม่คงอยู่ข้ามการ deploy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1E293B"/>
                </a:solidFill>
                <a:latin typeface="Leelawadee UI"/>
                <a:cs typeface="Leelawadee UI"/>
                <a:ea typeface="Leelawadee UI"/>
              </a:rPr>
              <a:t>•  ปุ่มส่งออก PDF บนแดชบอร์ดเชื่อมต่อแล้วผ่าน window.print()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50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00" y="420000"/>
            <a:ext cx="1091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F172A"/>
                </a:solidFill>
                <a:latin typeface="Leelawadee UI"/>
                <a:cs typeface="Leelawadee UI"/>
                <a:ea typeface="Leelawadee UI"/>
              </a:rPr>
              <a:t>ภาคผนวก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0000" y="1500000"/>
            <a:ext cx="10600000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1800" b="1">
                <a:solidFill>
                  <a:srgbClr val="0F172A"/>
                </a:solidFill>
                <a:latin typeface="Leelawadee UI"/>
                <a:cs typeface="Leelawadee UI"/>
                <a:ea typeface="Leelawadee UI"/>
              </a:rPr>
              <a:t>เว็บไซต์: https://yumpakjure.onrender.com/</a:t>
            </a:r>
          </a:p>
          <a:p>
            <a:pPr>
              <a:spcAft>
                <a:spcPts val="1800"/>
              </a:spcAft>
            </a:pPr>
            <a:r>
              <a:rPr sz="1800" b="0">
                <a:solidFill>
                  <a:srgbClr val="1E293B"/>
                </a:solidFill>
                <a:latin typeface="Leelawadee UI"/>
                <a:cs typeface="Leelawadee UI"/>
                <a:ea typeface="Leelawadee UI"/>
              </a:rPr>
              <a:t>รหัสคิวอาร์โค้ด: https://yumpakjure.onrender.com/qr.png</a:t>
            </a:r>
          </a:p>
          <a:p>
            <a:pPr>
              <a:spcAft>
                <a:spcPts val="1800"/>
              </a:spcAft>
            </a:pPr>
            <a:r>
              <a:rPr sz="1800" b="0">
                <a:solidFill>
                  <a:srgbClr val="1E293B"/>
                </a:solidFill>
                <a:latin typeface="Leelawadee UI"/>
                <a:cs typeface="Leelawadee UI"/>
                <a:ea typeface="Leelawadee UI"/>
              </a:rPr>
              <a:t>GitHub: https://github.com/tlemtv098-dotcom/YumparkjureQRsong</a:t>
            </a:r>
          </a:p>
          <a:p>
            <a:pPr>
              <a:spcAft>
                <a:spcPts val="1800"/>
              </a:spcAft>
            </a:pPr>
            <a:r>
              <a:rPr sz="1800" b="0">
                <a:solidFill>
                  <a:srgbClr val="1E293B"/>
                </a:solidFill>
                <a:latin typeface="Leelawadee UI"/>
                <a:cs typeface="Leelawadee UI"/>
                <a:ea typeface="Leelawadee UI"/>
              </a:rPr>
              <a:t>บัญชีทดสอบ: admin / 12345678  ·  staff / 12345678  ·  customer / 12345678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0000" y="5750000"/>
            <a:ext cx="106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D97706"/>
                </a:solidFill>
                <a:latin typeface="Leelawadee UI"/>
                <a:cs typeface="Leelawadee UI"/>
                <a:ea typeface="Leelawadee UI"/>
              </a:rPr>
              <a:t>ขอบคุณครับ / ขอบคุณค่ะ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